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 roundtripDataSignature="AMtx7mhxCvNWAvehFNVonUf5cTomIOuZj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Science Labs—often shortened to OSL—is a global, community-led space where people learn by building, and where open projects grow by welcoming contributors. OSL emphasizes open collaboration for research, education, and social good—bringing together researchers, educators, students, and developers to work in the open, share knowledge, and ship real outputs.</a:t>
            </a:r>
            <a:br>
              <a:rPr lang="en-US"/>
            </a:br>
            <a:br>
              <a:rPr lang="en-US"/>
            </a:br>
            <a:r>
              <a:rPr lang="en-US"/>
              <a:t>As we move through the next slides, I’ll cover OSL’s mission and values, the programs and activities we run, and finally a thank-you to the community that makes everything possible.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OSL’s mission is straightforward: advance scientific research through collaboration, innovation, and education—while making the scientific community more inclusive, transparent, and accessible. In practical terms, this means we don’t just talk about openness; we build in the open, mentor in the open, and create pathways for new contributors to do meaningful work.</a:t>
            </a:r>
            <a:br>
              <a:rPr lang="en-US"/>
            </a:br>
            <a:br>
              <a:rPr lang="en-US"/>
            </a:br>
            <a:r>
              <a:rPr lang="en-US"/>
              <a:t>The goals shown here connect mission to action: provide resources and tools, create a collaborative platform, and help open science initiatives move forward through real projects and learning.</a:t>
            </a:r>
            <a:br>
              <a:rPr lang="en-US"/>
            </a:br>
            <a:br>
              <a:rPr lang="en-US"/>
            </a:br>
            <a:r>
              <a:rPr lang="en-US"/>
              <a:t>On the right are the values OSL explicitly names as what we stand for: growth and belonging, mentorship and collaboration, empowerment and purpose, and finally gratitude and recognition—because community work only scales when contributors feel seen and celebrated.</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summarizes the core activities that make OSL work in practice.</a:t>
            </a:r>
            <a:br>
              <a:rPr lang="en-US"/>
            </a:br>
            <a:br>
              <a:rPr lang="en-US"/>
            </a:br>
            <a:r>
              <a:rPr lang="en-US"/>
              <a:t>First, we support open-source projects through incubation—helping mission-driven ideas become real releases with contributors and adoption. Alongside incubation, we run a project affiliation program to support aligned projects while respecting their independent governance, and to help them become more sustainable and visible.</a:t>
            </a:r>
            <a:br>
              <a:rPr lang="en-US"/>
            </a:br>
            <a:br>
              <a:rPr lang="en-US"/>
            </a:br>
            <a:r>
              <a:rPr lang="en-US"/>
              <a:t>Second, we invest heavily in contributor pathways: internships and structured onboarding. This includes the OSS internship track and a research seed program designed to help researchers start open-source software from scratch with clear documentation and a structured plan. We also participate in broader open-source initiatives like Google Summer of Code when applicable.</a:t>
            </a:r>
            <a:br>
              <a:rPr lang="en-US"/>
            </a:br>
            <a:br>
              <a:rPr lang="en-US"/>
            </a:br>
            <a:r>
              <a:rPr lang="en-US"/>
              <a:t>Third, we run learning programs—events and study groups—so the community has places to practice, ask questions, and grow skills in a supportive environment. And finally, we treat community building as a first-class activity: mentorship, an active community space, and storytelling that makes contributions visible through posts and public artifacts.</a:t>
            </a:r>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 name="Google Shape;6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want to close by explicitly recognizing the community. OSL is designed to be a commons—so every pull request, issue, discussion, review, blog post, mentorship session, and welcoming message matters. The impact is cumulative: small acts of contribution and care add up to real releases, real learning, and real opportunities for people who might otherwise feel stuck or excluded.</a:t>
            </a:r>
            <a:br>
              <a:rPr lang="en-US"/>
            </a:br>
            <a:br>
              <a:rPr lang="en-US"/>
            </a:br>
            <a:r>
              <a:rPr lang="en-US"/>
              <a:t>One of OSL’s stated values is ‘gratitude &amp; recognition’—making impact visible and celebrating the people behind it. So: thank you for helping Open Science Labs move forward, and thank you for continuing to build open collaboration for research, education, and social good.</a:t>
            </a:r>
            <a:endParaRPr/>
          </a:p>
        </p:txBody>
      </p:sp>
      <p:sp>
        <p:nvSpPr>
          <p:cNvPr id="68" name="Google Shape;6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p:nvPr/>
        </p:nvSpPr>
        <p:spPr>
          <a:xfrm>
            <a:off x="0" y="0"/>
            <a:ext cx="12191695" cy="109728"/>
          </a:xfrm>
          <a:prstGeom prst="rect">
            <a:avLst/>
          </a:prstGeom>
          <a:solidFill>
            <a:srgbClr val="049FD9"/>
          </a:solidFill>
          <a:ln cap="flat" cmpd="sng" w="12700">
            <a:solidFill>
              <a:srgbClr val="04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31520" y="1874520"/>
            <a:ext cx="10728655"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0F14"/>
              </a:buClr>
              <a:buSzPts val="4800"/>
              <a:buFont typeface="Calibri"/>
              <a:buNone/>
            </a:pPr>
            <a:r>
              <a:rPr b="1" i="0" lang="en-US" sz="4800" u="none" cap="none" strike="noStrike">
                <a:solidFill>
                  <a:srgbClr val="0B0F14"/>
                </a:solidFill>
                <a:latin typeface="Calibri"/>
                <a:ea typeface="Calibri"/>
                <a:cs typeface="Calibri"/>
                <a:sym typeface="Calibri"/>
              </a:rPr>
              <a:t>Open Science Labs</a:t>
            </a:r>
            <a:endParaRPr b="0" i="0" sz="4800" u="none" cap="none" strike="noStrike">
              <a:solidFill>
                <a:schemeClr val="dk1"/>
              </a:solidFill>
              <a:latin typeface="Calibri"/>
              <a:ea typeface="Calibri"/>
              <a:cs typeface="Calibri"/>
              <a:sym typeface="Calibri"/>
            </a:endParaRPr>
          </a:p>
        </p:txBody>
      </p:sp>
      <p:pic>
        <p:nvPicPr>
          <p:cNvPr descr="/mnt/data/osl-logo-color-horizontal.png" id="18" name="Google Shape;18;p1"/>
          <p:cNvPicPr preferRelativeResize="0"/>
          <p:nvPr/>
        </p:nvPicPr>
        <p:blipFill rotWithShape="1">
          <a:blip r:embed="rId3">
            <a:alphaModFix/>
          </a:blip>
          <a:srcRect b="0" l="0" r="0" t="0"/>
          <a:stretch/>
        </p:blipFill>
        <p:spPr>
          <a:xfrm>
            <a:off x="3767937" y="2806500"/>
            <a:ext cx="4655824" cy="10058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2"/>
          <p:cNvSpPr/>
          <p:nvPr/>
        </p:nvSpPr>
        <p:spPr>
          <a:xfrm>
            <a:off x="0" y="0"/>
            <a:ext cx="12191695" cy="109728"/>
          </a:xfrm>
          <a:prstGeom prst="rect">
            <a:avLst/>
          </a:prstGeom>
          <a:solidFill>
            <a:srgbClr val="7BC144"/>
          </a:solidFill>
          <a:ln cap="flat" cmpd="sng" w="12700">
            <a:solidFill>
              <a:srgbClr val="7BC1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40080" y="320040"/>
            <a:ext cx="10911535"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3400"/>
              <a:buFont typeface="Calibri"/>
              <a:buNone/>
            </a:pPr>
            <a:r>
              <a:rPr b="1" i="0" lang="en-US" sz="3400" u="none" cap="none" strike="noStrike">
                <a:solidFill>
                  <a:srgbClr val="0B0F14"/>
                </a:solidFill>
                <a:latin typeface="Calibri"/>
                <a:ea typeface="Calibri"/>
                <a:cs typeface="Calibri"/>
                <a:sym typeface="Calibri"/>
              </a:rPr>
              <a:t>Mission &amp; values</a:t>
            </a:r>
            <a:endParaRPr b="0" i="0" sz="3400" u="none" cap="none" strike="noStrike">
              <a:solidFill>
                <a:schemeClr val="dk1"/>
              </a:solidFill>
              <a:latin typeface="Calibri"/>
              <a:ea typeface="Calibri"/>
              <a:cs typeface="Calibri"/>
              <a:sym typeface="Calibri"/>
            </a:endParaRPr>
          </a:p>
        </p:txBody>
      </p:sp>
      <p:sp>
        <p:nvSpPr>
          <p:cNvPr id="26" name="Google Shape;26;p2"/>
          <p:cNvSpPr/>
          <p:nvPr/>
        </p:nvSpPr>
        <p:spPr>
          <a:xfrm>
            <a:off x="640080" y="1234440"/>
            <a:ext cx="5623560" cy="5349240"/>
          </a:xfrm>
          <a:prstGeom prst="roundRect">
            <a:avLst>
              <a:gd fmla="val 16667" name="adj"/>
            </a:avLst>
          </a:prstGeom>
          <a:solidFill>
            <a:srgbClr val="F5F7FA"/>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6446520" y="1234440"/>
            <a:ext cx="5102352" cy="5349240"/>
          </a:xfrm>
          <a:prstGeom prst="roundRect">
            <a:avLst>
              <a:gd fmla="val 16667" name="adj"/>
            </a:avLst>
          </a:prstGeom>
          <a:solidFill>
            <a:srgbClr val="F5F7FA"/>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960120" y="1508760"/>
            <a:ext cx="4983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800"/>
              <a:buFont typeface="Calibri"/>
              <a:buNone/>
            </a:pPr>
            <a:r>
              <a:rPr b="1" i="0" lang="en-US" sz="1800" u="none" cap="none" strike="noStrike">
                <a:solidFill>
                  <a:srgbClr val="0B0F14"/>
                </a:solidFill>
                <a:latin typeface="Calibri"/>
                <a:ea typeface="Calibri"/>
                <a:cs typeface="Calibri"/>
                <a:sym typeface="Calibri"/>
              </a:rPr>
              <a:t>Mission</a:t>
            </a:r>
            <a:endParaRPr b="0" i="0" sz="1800" u="none" cap="none" strike="noStrike">
              <a:solidFill>
                <a:schemeClr val="dk1"/>
              </a:solidFill>
              <a:latin typeface="Calibri"/>
              <a:ea typeface="Calibri"/>
              <a:cs typeface="Calibri"/>
              <a:sym typeface="Calibri"/>
            </a:endParaRPr>
          </a:p>
        </p:txBody>
      </p:sp>
      <p:sp>
        <p:nvSpPr>
          <p:cNvPr id="29" name="Google Shape;29;p2"/>
          <p:cNvSpPr/>
          <p:nvPr/>
        </p:nvSpPr>
        <p:spPr>
          <a:xfrm>
            <a:off x="960120" y="1920240"/>
            <a:ext cx="4983480" cy="11887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4B5563"/>
              </a:buClr>
              <a:buSzPts val="1400"/>
              <a:buFont typeface="Calibri"/>
              <a:buNone/>
            </a:pPr>
            <a:r>
              <a:rPr b="0" i="0" lang="en-US" sz="1400" u="none" cap="none" strike="noStrike">
                <a:solidFill>
                  <a:srgbClr val="4B5563"/>
                </a:solidFill>
                <a:latin typeface="Calibri"/>
                <a:ea typeface="Calibri"/>
                <a:cs typeface="Calibri"/>
                <a:sym typeface="Calibri"/>
              </a:rPr>
              <a:t>OSL advances scientific research through collaboration, innovation, and education—working to create a more inclusive, transparent, and accessible scientific community.</a:t>
            </a:r>
            <a:endParaRPr b="0" i="0" sz="1400" u="none" cap="none" strike="noStrike">
              <a:solidFill>
                <a:schemeClr val="dk1"/>
              </a:solidFill>
              <a:latin typeface="Calibri"/>
              <a:ea typeface="Calibri"/>
              <a:cs typeface="Calibri"/>
              <a:sym typeface="Calibri"/>
            </a:endParaRPr>
          </a:p>
        </p:txBody>
      </p:sp>
      <p:sp>
        <p:nvSpPr>
          <p:cNvPr id="30" name="Google Shape;30;p2"/>
          <p:cNvSpPr/>
          <p:nvPr/>
        </p:nvSpPr>
        <p:spPr>
          <a:xfrm>
            <a:off x="960120" y="3291840"/>
            <a:ext cx="4983480"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800"/>
              <a:buFont typeface="Calibri"/>
              <a:buNone/>
            </a:pPr>
            <a:r>
              <a:rPr b="1" i="0" lang="en-US" sz="1800" u="none" cap="none" strike="noStrike">
                <a:solidFill>
                  <a:srgbClr val="0B0F14"/>
                </a:solidFill>
                <a:latin typeface="Calibri"/>
                <a:ea typeface="Calibri"/>
                <a:cs typeface="Calibri"/>
                <a:sym typeface="Calibri"/>
              </a:rPr>
              <a:t>Goals</a:t>
            </a:r>
            <a:endParaRPr b="0" i="0" sz="1800" u="none" cap="none" strike="noStrike">
              <a:solidFill>
                <a:schemeClr val="dk1"/>
              </a:solidFill>
              <a:latin typeface="Calibri"/>
              <a:ea typeface="Calibri"/>
              <a:cs typeface="Calibri"/>
              <a:sym typeface="Calibri"/>
            </a:endParaRPr>
          </a:p>
        </p:txBody>
      </p:sp>
      <p:sp>
        <p:nvSpPr>
          <p:cNvPr id="31" name="Google Shape;31;p2"/>
          <p:cNvSpPr/>
          <p:nvPr/>
        </p:nvSpPr>
        <p:spPr>
          <a:xfrm>
            <a:off x="1051560" y="3657600"/>
            <a:ext cx="4846320" cy="2468880"/>
          </a:xfrm>
          <a:prstGeom prst="rect">
            <a:avLst/>
          </a:prstGeom>
          <a:noFill/>
          <a:ln>
            <a:noFill/>
          </a:ln>
        </p:spPr>
        <p:txBody>
          <a:bodyPr anchorCtr="0" anchor="ctr" bIns="45700" lIns="91425" spcFirstLastPara="1" rIns="91425" wrap="square" tIns="45700">
            <a:noAutofit/>
          </a:bodyPr>
          <a:lstStyle/>
          <a:p>
            <a:pPr indent="-203200" lvl="0" marL="203200" marR="0" rtl="0" algn="l">
              <a:spcBef>
                <a:spcPts val="0"/>
              </a:spcBef>
              <a:spcAft>
                <a:spcPts val="0"/>
              </a:spcAft>
              <a:buClr>
                <a:srgbClr val="4B5563"/>
              </a:buClr>
              <a:buSzPts val="1300"/>
              <a:buFont typeface="Calibri"/>
              <a:buChar char="•"/>
            </a:pPr>
            <a:r>
              <a:rPr b="0" i="0" lang="en-US" sz="1300" u="none" cap="none" strike="noStrike">
                <a:solidFill>
                  <a:srgbClr val="4B5563"/>
                </a:solidFill>
                <a:latin typeface="Calibri"/>
                <a:ea typeface="Calibri"/>
                <a:cs typeface="Calibri"/>
                <a:sym typeface="Calibri"/>
              </a:rPr>
              <a:t>Empower researchers, educators, and students with tools and resources</a:t>
            </a:r>
            <a:endParaRPr b="0" i="0" sz="13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4B5563"/>
              </a:buClr>
              <a:buSzPts val="1300"/>
              <a:buFont typeface="Calibri"/>
              <a:buChar char="•"/>
            </a:pPr>
            <a:r>
              <a:rPr b="0" i="0" lang="en-US" sz="1300" u="none" cap="none" strike="noStrike">
                <a:solidFill>
                  <a:srgbClr val="4B5563"/>
                </a:solidFill>
                <a:latin typeface="Calibri"/>
                <a:ea typeface="Calibri"/>
                <a:cs typeface="Calibri"/>
                <a:sym typeface="Calibri"/>
              </a:rPr>
              <a:t>Provide a collaborative platform for sharing knowledge</a:t>
            </a:r>
            <a:endParaRPr b="0" i="0" sz="1300" u="none" cap="none" strike="noStrike">
              <a:solidFill>
                <a:schemeClr val="dk1"/>
              </a:solidFill>
              <a:latin typeface="Calibri"/>
              <a:ea typeface="Calibri"/>
              <a:cs typeface="Calibri"/>
              <a:sym typeface="Calibri"/>
            </a:endParaRPr>
          </a:p>
          <a:p>
            <a:pPr indent="-203200" lvl="0" marL="203200" marR="0" rtl="0" algn="l">
              <a:spcBef>
                <a:spcPts val="600"/>
              </a:spcBef>
              <a:spcAft>
                <a:spcPts val="0"/>
              </a:spcAft>
              <a:buClr>
                <a:srgbClr val="4B5563"/>
              </a:buClr>
              <a:buSzPts val="1300"/>
              <a:buFont typeface="Calibri"/>
              <a:buChar char="•"/>
            </a:pPr>
            <a:r>
              <a:rPr b="0" i="0" lang="en-US" sz="1300" u="none" cap="none" strike="noStrike">
                <a:solidFill>
                  <a:srgbClr val="4B5563"/>
                </a:solidFill>
                <a:latin typeface="Calibri"/>
                <a:ea typeface="Calibri"/>
                <a:cs typeface="Calibri"/>
                <a:sym typeface="Calibri"/>
              </a:rPr>
              <a:t>Advance open science initiatives through real projects and learning</a:t>
            </a:r>
            <a:endParaRPr b="0" i="0" sz="1300" u="none" cap="none" strike="noStrike">
              <a:solidFill>
                <a:schemeClr val="dk1"/>
              </a:solidFill>
              <a:latin typeface="Calibri"/>
              <a:ea typeface="Calibri"/>
              <a:cs typeface="Calibri"/>
              <a:sym typeface="Calibri"/>
            </a:endParaRPr>
          </a:p>
        </p:txBody>
      </p:sp>
      <p:sp>
        <p:nvSpPr>
          <p:cNvPr id="32" name="Google Shape;32;p2"/>
          <p:cNvSpPr/>
          <p:nvPr/>
        </p:nvSpPr>
        <p:spPr>
          <a:xfrm>
            <a:off x="6766560" y="1508760"/>
            <a:ext cx="4462272" cy="27432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800"/>
              <a:buFont typeface="Calibri"/>
              <a:buNone/>
            </a:pPr>
            <a:r>
              <a:rPr b="1" i="0" lang="en-US" sz="1800" u="none" cap="none" strike="noStrike">
                <a:solidFill>
                  <a:srgbClr val="0B0F14"/>
                </a:solidFill>
                <a:latin typeface="Calibri"/>
                <a:ea typeface="Calibri"/>
                <a:cs typeface="Calibri"/>
                <a:sym typeface="Calibri"/>
              </a:rPr>
              <a:t>Values (what we stand for)</a:t>
            </a:r>
            <a:endParaRPr b="0" i="0" sz="1800" u="none" cap="none" strike="noStrike">
              <a:solidFill>
                <a:schemeClr val="dk1"/>
              </a:solidFill>
              <a:latin typeface="Calibri"/>
              <a:ea typeface="Calibri"/>
              <a:cs typeface="Calibri"/>
              <a:sym typeface="Calibri"/>
            </a:endParaRPr>
          </a:p>
        </p:txBody>
      </p:sp>
      <p:sp>
        <p:nvSpPr>
          <p:cNvPr id="33" name="Google Shape;33;p2"/>
          <p:cNvSpPr/>
          <p:nvPr/>
        </p:nvSpPr>
        <p:spPr>
          <a:xfrm>
            <a:off x="6858000" y="1920240"/>
            <a:ext cx="4325112" cy="4434840"/>
          </a:xfrm>
          <a:prstGeom prst="rect">
            <a:avLst/>
          </a:prstGeom>
          <a:noFill/>
          <a:ln>
            <a:noFill/>
          </a:ln>
        </p:spPr>
        <p:txBody>
          <a:bodyPr anchorCtr="0" anchor="t" bIns="45700" lIns="91425" spcFirstLastPara="1" rIns="91425" wrap="square" tIns="45700">
            <a:noAutofit/>
          </a:bodyPr>
          <a:lstStyle/>
          <a:p>
            <a:pPr indent="-203200" lvl="0" marL="2032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Growth — learning by doing, with real outcomes</a:t>
            </a:r>
            <a:endParaRPr b="0" i="0" sz="12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Belonging — a supportive place to contribute and be seen</a:t>
            </a:r>
            <a:endParaRPr b="0" i="0" sz="12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Mentorship — trust, care, and guidance</a:t>
            </a:r>
            <a:endParaRPr b="0" i="0" sz="12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Collaboration — across cultures, disciplines, and time zones</a:t>
            </a:r>
            <a:endParaRPr b="0" i="0" sz="12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Empowerment — pathways that build confidence and agency</a:t>
            </a:r>
            <a:endParaRPr b="0" i="0" sz="12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Purpose — work that matters socially, technically, and scientifically</a:t>
            </a:r>
            <a:endParaRPr b="0" i="0" sz="1250" u="none" cap="none" strike="noStrike">
              <a:solidFill>
                <a:schemeClr val="dk1"/>
              </a:solidFill>
              <a:latin typeface="Calibri"/>
              <a:ea typeface="Calibri"/>
              <a:cs typeface="Calibri"/>
              <a:sym typeface="Calibri"/>
            </a:endParaRPr>
          </a:p>
          <a:p>
            <a:pPr indent="-203200" lvl="0" marL="203200" marR="0" rtl="0" algn="l">
              <a:spcBef>
                <a:spcPts val="5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Gratitude &amp; recognition — celebrating contributions and impact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3"/>
          <p:cNvSpPr/>
          <p:nvPr/>
        </p:nvSpPr>
        <p:spPr>
          <a:xfrm>
            <a:off x="0" y="0"/>
            <a:ext cx="12191695" cy="109728"/>
          </a:xfrm>
          <a:prstGeom prst="rect">
            <a:avLst/>
          </a:prstGeom>
          <a:solidFill>
            <a:srgbClr val="FFDA00"/>
          </a:solidFill>
          <a:ln cap="flat" cmpd="sng" w="12700">
            <a:solidFill>
              <a:srgbClr val="FFD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p:cNvSpPr/>
          <p:nvPr/>
        </p:nvSpPr>
        <p:spPr>
          <a:xfrm>
            <a:off x="640080" y="320040"/>
            <a:ext cx="10911535" cy="64008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3400"/>
              <a:buFont typeface="Calibri"/>
              <a:buNone/>
            </a:pPr>
            <a:r>
              <a:rPr b="1" i="0" lang="en-US" sz="3400" u="none" cap="none" strike="noStrike">
                <a:solidFill>
                  <a:srgbClr val="0B0F14"/>
                </a:solidFill>
                <a:latin typeface="Calibri"/>
                <a:ea typeface="Calibri"/>
                <a:cs typeface="Calibri"/>
                <a:sym typeface="Calibri"/>
              </a:rPr>
              <a:t>What we do (activities)</a:t>
            </a:r>
            <a:endParaRPr b="0" i="0" sz="3400" u="none" cap="none" strike="noStrike">
              <a:solidFill>
                <a:schemeClr val="dk1"/>
              </a:solidFill>
              <a:latin typeface="Calibri"/>
              <a:ea typeface="Calibri"/>
              <a:cs typeface="Calibri"/>
              <a:sym typeface="Calibri"/>
            </a:endParaRPr>
          </a:p>
        </p:txBody>
      </p:sp>
      <p:sp>
        <p:nvSpPr>
          <p:cNvPr id="41" name="Google Shape;41;p3"/>
          <p:cNvSpPr/>
          <p:nvPr/>
        </p:nvSpPr>
        <p:spPr>
          <a:xfrm>
            <a:off x="640080" y="1143000"/>
            <a:ext cx="5303520" cy="1600200"/>
          </a:xfrm>
          <a:prstGeom prst="rect">
            <a:avLst/>
          </a:prstGeom>
          <a:solidFill>
            <a:srgbClr val="FFFFFF"/>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40080" y="1143000"/>
            <a:ext cx="109728" cy="1600200"/>
          </a:xfrm>
          <a:prstGeom prst="rect">
            <a:avLst/>
          </a:prstGeom>
          <a:solidFill>
            <a:srgbClr val="049FD9"/>
          </a:solidFill>
          <a:ln cap="flat" cmpd="sng" w="12700">
            <a:solidFill>
              <a:srgbClr val="04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p:nvPr/>
        </p:nvSpPr>
        <p:spPr>
          <a:xfrm>
            <a:off x="868680" y="130759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600"/>
              <a:buFont typeface="Calibri"/>
              <a:buNone/>
            </a:pPr>
            <a:r>
              <a:rPr b="1" i="0" lang="en-US" sz="1600" u="none" cap="none" strike="noStrike">
                <a:solidFill>
                  <a:srgbClr val="0B0F14"/>
                </a:solidFill>
                <a:latin typeface="Calibri"/>
                <a:ea typeface="Calibri"/>
                <a:cs typeface="Calibri"/>
                <a:sym typeface="Calibri"/>
              </a:rPr>
              <a:t>Project incubation</a:t>
            </a:r>
            <a:endParaRPr b="0" i="0" sz="1600" u="none" cap="none" strike="noStrike">
              <a:solidFill>
                <a:schemeClr val="dk1"/>
              </a:solidFill>
              <a:latin typeface="Calibri"/>
              <a:ea typeface="Calibri"/>
              <a:cs typeface="Calibri"/>
              <a:sym typeface="Calibri"/>
            </a:endParaRPr>
          </a:p>
        </p:txBody>
      </p:sp>
      <p:sp>
        <p:nvSpPr>
          <p:cNvPr id="44" name="Google Shape;44;p3"/>
          <p:cNvSpPr/>
          <p:nvPr/>
        </p:nvSpPr>
        <p:spPr>
          <a:xfrm>
            <a:off x="960120" y="1691640"/>
            <a:ext cx="4800600" cy="914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Support mission-driven projects from idea → contributors → releases</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Guidance on OSS &amp; research best practices</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Help projects grow visibility and adoption</a:t>
            </a:r>
            <a:endParaRPr b="0" i="0" sz="1250" u="none" cap="none" strike="noStrike">
              <a:solidFill>
                <a:schemeClr val="dk1"/>
              </a:solidFill>
              <a:latin typeface="Calibri"/>
              <a:ea typeface="Calibri"/>
              <a:cs typeface="Calibri"/>
              <a:sym typeface="Calibri"/>
            </a:endParaRPr>
          </a:p>
        </p:txBody>
      </p:sp>
      <p:sp>
        <p:nvSpPr>
          <p:cNvPr id="45" name="Google Shape;45;p3"/>
          <p:cNvSpPr/>
          <p:nvPr/>
        </p:nvSpPr>
        <p:spPr>
          <a:xfrm>
            <a:off x="6263640" y="1143000"/>
            <a:ext cx="5303520" cy="1600200"/>
          </a:xfrm>
          <a:prstGeom prst="rect">
            <a:avLst/>
          </a:prstGeom>
          <a:solidFill>
            <a:srgbClr val="FFFFFF"/>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263640" y="1143000"/>
            <a:ext cx="109728" cy="1600200"/>
          </a:xfrm>
          <a:prstGeom prst="rect">
            <a:avLst/>
          </a:prstGeom>
          <a:solidFill>
            <a:srgbClr val="7BC144"/>
          </a:solidFill>
          <a:ln cap="flat" cmpd="sng" w="12700">
            <a:solidFill>
              <a:srgbClr val="7BC1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p:nvPr/>
        </p:nvSpPr>
        <p:spPr>
          <a:xfrm>
            <a:off x="6492240" y="130759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600"/>
              <a:buFont typeface="Calibri"/>
              <a:buNone/>
            </a:pPr>
            <a:r>
              <a:rPr b="1" i="0" lang="en-US" sz="1600" u="none" cap="none" strike="noStrike">
                <a:solidFill>
                  <a:srgbClr val="0B0F14"/>
                </a:solidFill>
                <a:latin typeface="Calibri"/>
                <a:ea typeface="Calibri"/>
                <a:cs typeface="Calibri"/>
                <a:sym typeface="Calibri"/>
              </a:rPr>
              <a:t>Project affiliation</a:t>
            </a:r>
            <a:endParaRPr b="0" i="0" sz="1600" u="none" cap="none" strike="noStrike">
              <a:solidFill>
                <a:schemeClr val="dk1"/>
              </a:solidFill>
              <a:latin typeface="Calibri"/>
              <a:ea typeface="Calibri"/>
              <a:cs typeface="Calibri"/>
              <a:sym typeface="Calibri"/>
            </a:endParaRPr>
          </a:p>
        </p:txBody>
      </p:sp>
      <p:sp>
        <p:nvSpPr>
          <p:cNvPr id="48" name="Google Shape;48;p3"/>
          <p:cNvSpPr/>
          <p:nvPr/>
        </p:nvSpPr>
        <p:spPr>
          <a:xfrm>
            <a:off x="6583680" y="1691640"/>
            <a:ext cx="4800600" cy="914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Support aligned independent projects without taking control</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Promote projects and strengthen contributor experience</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Eligibility for internships, mentoring programs, and future grants</a:t>
            </a:r>
            <a:endParaRPr b="0" i="0" sz="1250" u="none" cap="none" strike="noStrike">
              <a:solidFill>
                <a:schemeClr val="dk1"/>
              </a:solidFill>
              <a:latin typeface="Calibri"/>
              <a:ea typeface="Calibri"/>
              <a:cs typeface="Calibri"/>
              <a:sym typeface="Calibri"/>
            </a:endParaRPr>
          </a:p>
        </p:txBody>
      </p:sp>
      <p:sp>
        <p:nvSpPr>
          <p:cNvPr id="49" name="Google Shape;49;p3"/>
          <p:cNvSpPr/>
          <p:nvPr/>
        </p:nvSpPr>
        <p:spPr>
          <a:xfrm>
            <a:off x="640080" y="2971800"/>
            <a:ext cx="5303520" cy="1600200"/>
          </a:xfrm>
          <a:prstGeom prst="rect">
            <a:avLst/>
          </a:prstGeom>
          <a:solidFill>
            <a:srgbClr val="FFFFFF"/>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640080" y="2971800"/>
            <a:ext cx="109728" cy="1600200"/>
          </a:xfrm>
          <a:prstGeom prst="rect">
            <a:avLst/>
          </a:prstGeom>
          <a:solidFill>
            <a:srgbClr val="049FD9"/>
          </a:solidFill>
          <a:ln cap="flat" cmpd="sng" w="12700">
            <a:solidFill>
              <a:srgbClr val="04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3"/>
          <p:cNvSpPr/>
          <p:nvPr/>
        </p:nvSpPr>
        <p:spPr>
          <a:xfrm>
            <a:off x="868680" y="313639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600"/>
              <a:buFont typeface="Calibri"/>
              <a:buNone/>
            </a:pPr>
            <a:r>
              <a:rPr b="1" i="0" lang="en-US" sz="1600" u="none" cap="none" strike="noStrike">
                <a:solidFill>
                  <a:srgbClr val="0B0F14"/>
                </a:solidFill>
                <a:latin typeface="Calibri"/>
                <a:ea typeface="Calibri"/>
                <a:cs typeface="Calibri"/>
                <a:sym typeface="Calibri"/>
              </a:rPr>
              <a:t>Internships &amp; onboarding (OSS)</a:t>
            </a:r>
            <a:endParaRPr b="0" i="0" sz="1600" u="none" cap="none" strike="noStrike">
              <a:solidFill>
                <a:schemeClr val="dk1"/>
              </a:solidFill>
              <a:latin typeface="Calibri"/>
              <a:ea typeface="Calibri"/>
              <a:cs typeface="Calibri"/>
              <a:sym typeface="Calibri"/>
            </a:endParaRPr>
          </a:p>
        </p:txBody>
      </p:sp>
      <p:sp>
        <p:nvSpPr>
          <p:cNvPr id="52" name="Google Shape;52;p3"/>
          <p:cNvSpPr/>
          <p:nvPr/>
        </p:nvSpPr>
        <p:spPr>
          <a:xfrm>
            <a:off x="960120" y="3520440"/>
            <a:ext cx="4800600" cy="914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Mentored, portfolio-ready contributions</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Contributor guides and structured onboarding</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Bridge learning to real-world open-source work</a:t>
            </a:r>
            <a:endParaRPr b="0" i="0" sz="1250" u="none" cap="none" strike="noStrike">
              <a:solidFill>
                <a:schemeClr val="dk1"/>
              </a:solidFill>
              <a:latin typeface="Calibri"/>
              <a:ea typeface="Calibri"/>
              <a:cs typeface="Calibri"/>
              <a:sym typeface="Calibri"/>
            </a:endParaRPr>
          </a:p>
        </p:txBody>
      </p:sp>
      <p:sp>
        <p:nvSpPr>
          <p:cNvPr id="53" name="Google Shape;53;p3"/>
          <p:cNvSpPr/>
          <p:nvPr/>
        </p:nvSpPr>
        <p:spPr>
          <a:xfrm>
            <a:off x="6263640" y="2971800"/>
            <a:ext cx="5303520" cy="1600200"/>
          </a:xfrm>
          <a:prstGeom prst="rect">
            <a:avLst/>
          </a:prstGeom>
          <a:solidFill>
            <a:srgbClr val="FFFFFF"/>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6263640" y="2971800"/>
            <a:ext cx="109728" cy="1600200"/>
          </a:xfrm>
          <a:prstGeom prst="rect">
            <a:avLst/>
          </a:prstGeom>
          <a:solidFill>
            <a:srgbClr val="7BC144"/>
          </a:solidFill>
          <a:ln cap="flat" cmpd="sng" w="12700">
            <a:solidFill>
              <a:srgbClr val="7BC14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3"/>
          <p:cNvSpPr/>
          <p:nvPr/>
        </p:nvSpPr>
        <p:spPr>
          <a:xfrm>
            <a:off x="6492240" y="313639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600"/>
              <a:buFont typeface="Calibri"/>
              <a:buNone/>
            </a:pPr>
            <a:r>
              <a:rPr b="1" i="0" lang="en-US" sz="1600" u="none" cap="none" strike="noStrike">
                <a:solidFill>
                  <a:srgbClr val="0B0F14"/>
                </a:solidFill>
                <a:latin typeface="Calibri"/>
                <a:ea typeface="Calibri"/>
                <a:cs typeface="Calibri"/>
                <a:sym typeface="Calibri"/>
              </a:rPr>
              <a:t>Research seed internships</a:t>
            </a:r>
            <a:endParaRPr b="0" i="0" sz="1600" u="none" cap="none" strike="noStrike">
              <a:solidFill>
                <a:schemeClr val="dk1"/>
              </a:solidFill>
              <a:latin typeface="Calibri"/>
              <a:ea typeface="Calibri"/>
              <a:cs typeface="Calibri"/>
              <a:sym typeface="Calibri"/>
            </a:endParaRPr>
          </a:p>
        </p:txBody>
      </p:sp>
      <p:sp>
        <p:nvSpPr>
          <p:cNvPr id="56" name="Google Shape;56;p3"/>
          <p:cNvSpPr/>
          <p:nvPr/>
        </p:nvSpPr>
        <p:spPr>
          <a:xfrm>
            <a:off x="6583680" y="3520440"/>
            <a:ext cx="4800600" cy="914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Help researchers launch OSS projects from scratch</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Structured plans and clear issues over 3–6 months</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Mentorship with frequent feedback loops</a:t>
            </a:r>
            <a:endParaRPr b="0" i="0" sz="1250" u="none" cap="none" strike="noStrike">
              <a:solidFill>
                <a:schemeClr val="dk1"/>
              </a:solidFill>
              <a:latin typeface="Calibri"/>
              <a:ea typeface="Calibri"/>
              <a:cs typeface="Calibri"/>
              <a:sym typeface="Calibri"/>
            </a:endParaRPr>
          </a:p>
        </p:txBody>
      </p:sp>
      <p:sp>
        <p:nvSpPr>
          <p:cNvPr id="57" name="Google Shape;57;p3"/>
          <p:cNvSpPr/>
          <p:nvPr/>
        </p:nvSpPr>
        <p:spPr>
          <a:xfrm>
            <a:off x="640080" y="4800600"/>
            <a:ext cx="5303520" cy="1600200"/>
          </a:xfrm>
          <a:prstGeom prst="rect">
            <a:avLst/>
          </a:prstGeom>
          <a:solidFill>
            <a:srgbClr val="FFFFFF"/>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3"/>
          <p:cNvSpPr/>
          <p:nvPr/>
        </p:nvSpPr>
        <p:spPr>
          <a:xfrm>
            <a:off x="640080" y="4800600"/>
            <a:ext cx="109728" cy="1600200"/>
          </a:xfrm>
          <a:prstGeom prst="rect">
            <a:avLst/>
          </a:prstGeom>
          <a:solidFill>
            <a:srgbClr val="FFDA00"/>
          </a:solidFill>
          <a:ln cap="flat" cmpd="sng" w="12700">
            <a:solidFill>
              <a:srgbClr val="FFD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3"/>
          <p:cNvSpPr/>
          <p:nvPr/>
        </p:nvSpPr>
        <p:spPr>
          <a:xfrm>
            <a:off x="868680" y="496519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600"/>
              <a:buFont typeface="Calibri"/>
              <a:buNone/>
            </a:pPr>
            <a:r>
              <a:rPr b="1" i="0" lang="en-US" sz="1600" u="none" cap="none" strike="noStrike">
                <a:solidFill>
                  <a:srgbClr val="0B0F14"/>
                </a:solidFill>
                <a:latin typeface="Calibri"/>
                <a:ea typeface="Calibri"/>
                <a:cs typeface="Calibri"/>
                <a:sym typeface="Calibri"/>
              </a:rPr>
              <a:t>Learning programs</a:t>
            </a:r>
            <a:endParaRPr b="0" i="0" sz="1600" u="none" cap="none" strike="noStrike">
              <a:solidFill>
                <a:schemeClr val="dk1"/>
              </a:solidFill>
              <a:latin typeface="Calibri"/>
              <a:ea typeface="Calibri"/>
              <a:cs typeface="Calibri"/>
              <a:sym typeface="Calibri"/>
            </a:endParaRPr>
          </a:p>
        </p:txBody>
      </p:sp>
      <p:sp>
        <p:nvSpPr>
          <p:cNvPr id="60" name="Google Shape;60;p3"/>
          <p:cNvSpPr/>
          <p:nvPr/>
        </p:nvSpPr>
        <p:spPr>
          <a:xfrm>
            <a:off x="960120" y="5349240"/>
            <a:ext cx="4800600" cy="914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Events, workshops, hackathons, and webinars</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Study groups (e.g., Advent of Code) moderated by the community</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Curated learning resources (in progress)</a:t>
            </a:r>
            <a:endParaRPr b="0" i="0" sz="1250" u="none" cap="none" strike="noStrike">
              <a:solidFill>
                <a:schemeClr val="dk1"/>
              </a:solidFill>
              <a:latin typeface="Calibri"/>
              <a:ea typeface="Calibri"/>
              <a:cs typeface="Calibri"/>
              <a:sym typeface="Calibri"/>
            </a:endParaRPr>
          </a:p>
        </p:txBody>
      </p:sp>
      <p:sp>
        <p:nvSpPr>
          <p:cNvPr id="61" name="Google Shape;61;p3"/>
          <p:cNvSpPr/>
          <p:nvPr/>
        </p:nvSpPr>
        <p:spPr>
          <a:xfrm>
            <a:off x="6263640" y="4800600"/>
            <a:ext cx="5303520" cy="1600200"/>
          </a:xfrm>
          <a:prstGeom prst="rect">
            <a:avLst/>
          </a:prstGeom>
          <a:solidFill>
            <a:srgbClr val="FFFFFF"/>
          </a:solidFill>
          <a:ln cap="flat" cmpd="sng" w="12700">
            <a:solidFill>
              <a:srgbClr val="E6EAF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a:off x="6263640" y="4800600"/>
            <a:ext cx="109728" cy="1600200"/>
          </a:xfrm>
          <a:prstGeom prst="rect">
            <a:avLst/>
          </a:prstGeom>
          <a:solidFill>
            <a:srgbClr val="FFDA00"/>
          </a:solidFill>
          <a:ln cap="flat" cmpd="sng" w="12700">
            <a:solidFill>
              <a:srgbClr val="FFDA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3"/>
          <p:cNvSpPr/>
          <p:nvPr/>
        </p:nvSpPr>
        <p:spPr>
          <a:xfrm>
            <a:off x="6492240" y="4965192"/>
            <a:ext cx="4937760" cy="32004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B0F14"/>
              </a:buClr>
              <a:buSzPts val="1600"/>
              <a:buFont typeface="Calibri"/>
              <a:buNone/>
            </a:pPr>
            <a:r>
              <a:rPr b="1" i="0" lang="en-US" sz="1600" u="none" cap="none" strike="noStrike">
                <a:solidFill>
                  <a:srgbClr val="0B0F14"/>
                </a:solidFill>
                <a:latin typeface="Calibri"/>
                <a:ea typeface="Calibri"/>
                <a:cs typeface="Calibri"/>
                <a:sym typeface="Calibri"/>
              </a:rPr>
              <a:t>Community, mentorship &amp; storytelling</a:t>
            </a:r>
            <a:endParaRPr b="0" i="0" sz="1600" u="none" cap="none" strike="noStrike">
              <a:solidFill>
                <a:schemeClr val="dk1"/>
              </a:solidFill>
              <a:latin typeface="Calibri"/>
              <a:ea typeface="Calibri"/>
              <a:cs typeface="Calibri"/>
              <a:sym typeface="Calibri"/>
            </a:endParaRPr>
          </a:p>
        </p:txBody>
      </p:sp>
      <p:sp>
        <p:nvSpPr>
          <p:cNvPr id="64" name="Google Shape;64;p3"/>
          <p:cNvSpPr/>
          <p:nvPr/>
        </p:nvSpPr>
        <p:spPr>
          <a:xfrm>
            <a:off x="6583680" y="5349240"/>
            <a:ext cx="4800600" cy="914400"/>
          </a:xfrm>
          <a:prstGeom prst="rect">
            <a:avLst/>
          </a:prstGeom>
          <a:noFill/>
          <a:ln>
            <a:noFill/>
          </a:ln>
        </p:spPr>
        <p:txBody>
          <a:bodyPr anchorCtr="0" anchor="t" bIns="45700" lIns="91425" spcFirstLastPara="1" rIns="91425" wrap="square" tIns="45700">
            <a:noAutofit/>
          </a:bodyPr>
          <a:lstStyle/>
          <a:p>
            <a:pPr indent="-177800" lvl="0" marL="177800" marR="0" rtl="0" algn="l">
              <a:spcBef>
                <a:spcPts val="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A welcoming community space (Discord) for building together</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Multi-level mentorship and contributor support</a:t>
            </a:r>
            <a:endParaRPr b="0" i="0" sz="1250" u="none" cap="none" strike="noStrike">
              <a:solidFill>
                <a:schemeClr val="dk1"/>
              </a:solidFill>
              <a:latin typeface="Calibri"/>
              <a:ea typeface="Calibri"/>
              <a:cs typeface="Calibri"/>
              <a:sym typeface="Calibri"/>
            </a:endParaRPr>
          </a:p>
          <a:p>
            <a:pPr indent="-177800" lvl="0" marL="177800" marR="0" rtl="0" algn="l">
              <a:spcBef>
                <a:spcPts val="600"/>
              </a:spcBef>
              <a:spcAft>
                <a:spcPts val="0"/>
              </a:spcAft>
              <a:buClr>
                <a:srgbClr val="4B5563"/>
              </a:buClr>
              <a:buSzPts val="1250"/>
              <a:buFont typeface="Calibri"/>
              <a:buChar char="•"/>
            </a:pPr>
            <a:r>
              <a:rPr b="0" i="0" lang="en-US" sz="1250" u="none" cap="none" strike="noStrike">
                <a:solidFill>
                  <a:srgbClr val="4B5563"/>
                </a:solidFill>
                <a:latin typeface="Calibri"/>
                <a:ea typeface="Calibri"/>
                <a:cs typeface="Calibri"/>
                <a:sym typeface="Calibri"/>
              </a:rPr>
              <a:t>Publishing work via blog posts and public updates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 name="Shape 69"/>
        <p:cNvGrpSpPr/>
        <p:nvPr/>
      </p:nvGrpSpPr>
      <p:grpSpPr>
        <a:xfrm>
          <a:off x="0" y="0"/>
          <a:ext cx="0" cy="0"/>
          <a:chOff x="0" y="0"/>
          <a:chExt cx="0" cy="0"/>
        </a:xfrm>
      </p:grpSpPr>
      <p:sp>
        <p:nvSpPr>
          <p:cNvPr id="70" name="Google Shape;70;p4"/>
          <p:cNvSpPr/>
          <p:nvPr/>
        </p:nvSpPr>
        <p:spPr>
          <a:xfrm>
            <a:off x="0" y="0"/>
            <a:ext cx="12191695" cy="109728"/>
          </a:xfrm>
          <a:prstGeom prst="rect">
            <a:avLst/>
          </a:prstGeom>
          <a:solidFill>
            <a:srgbClr val="049FD9"/>
          </a:solidFill>
          <a:ln cap="flat" cmpd="sng" w="12700">
            <a:solidFill>
              <a:srgbClr val="04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822960" y="1828800"/>
            <a:ext cx="10545775" cy="8229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0B0F14"/>
              </a:buClr>
              <a:buSzPts val="4600"/>
              <a:buFont typeface="Calibri"/>
              <a:buNone/>
            </a:pPr>
            <a:r>
              <a:rPr b="1" i="0" lang="en-US" sz="4600" u="none" cap="none" strike="noStrike">
                <a:solidFill>
                  <a:srgbClr val="0B0F14"/>
                </a:solidFill>
                <a:latin typeface="Calibri"/>
                <a:ea typeface="Calibri"/>
                <a:cs typeface="Calibri"/>
                <a:sym typeface="Calibri"/>
              </a:rPr>
              <a:t>Thank you, community</a:t>
            </a:r>
            <a:endParaRPr b="0" i="0" sz="4600" u="none" cap="none" strike="noStrike">
              <a:solidFill>
                <a:schemeClr val="dk1"/>
              </a:solidFill>
              <a:latin typeface="Calibri"/>
              <a:ea typeface="Calibri"/>
              <a:cs typeface="Calibri"/>
              <a:sym typeface="Calibri"/>
            </a:endParaRPr>
          </a:p>
        </p:txBody>
      </p:sp>
      <p:sp>
        <p:nvSpPr>
          <p:cNvPr id="72" name="Google Shape;72;p4"/>
          <p:cNvSpPr/>
          <p:nvPr/>
        </p:nvSpPr>
        <p:spPr>
          <a:xfrm>
            <a:off x="1463040" y="2926080"/>
            <a:ext cx="9265615" cy="914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Clr>
                <a:srgbClr val="4B5563"/>
              </a:buClr>
              <a:buSzPts val="1800"/>
              <a:buFont typeface="Calibri"/>
              <a:buNone/>
            </a:pPr>
            <a:r>
              <a:rPr b="0" i="0" lang="en-US" sz="1800" u="none" cap="none" strike="noStrike">
                <a:solidFill>
                  <a:srgbClr val="4B5563"/>
                </a:solidFill>
                <a:latin typeface="Calibri"/>
                <a:ea typeface="Calibri"/>
                <a:cs typeface="Calibri"/>
                <a:sym typeface="Calibri"/>
              </a:rPr>
              <a:t>Your contributions—code, documentation, reviews, mentorship, ideas, and encouragement—are what keep Open Science Labs moving forward.</a:t>
            </a:r>
            <a:endParaRPr b="0" i="0" sz="1800" u="none" cap="none" strike="noStrike">
              <a:solidFill>
                <a:schemeClr val="dk1"/>
              </a:solidFill>
              <a:latin typeface="Calibri"/>
              <a:ea typeface="Calibri"/>
              <a:cs typeface="Calibri"/>
              <a:sym typeface="Calibri"/>
            </a:endParaRPr>
          </a:p>
        </p:txBody>
      </p:sp>
      <p:sp>
        <p:nvSpPr>
          <p:cNvPr id="73" name="Google Shape;73;p4"/>
          <p:cNvSpPr/>
          <p:nvPr/>
        </p:nvSpPr>
        <p:spPr>
          <a:xfrm>
            <a:off x="0" y="6035040"/>
            <a:ext cx="12191695" cy="36576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4B5563"/>
              </a:buClr>
              <a:buSzPts val="1400"/>
              <a:buFont typeface="Calibri"/>
              <a:buNone/>
            </a:pPr>
            <a:r>
              <a:rPr b="0" i="0" lang="en-US" sz="1400" u="none" cap="none" strike="noStrike">
                <a:solidFill>
                  <a:srgbClr val="4B5563"/>
                </a:solidFill>
                <a:latin typeface="Calibri"/>
                <a:ea typeface="Calibri"/>
                <a:cs typeface="Calibri"/>
                <a:sym typeface="Calibri"/>
              </a:rPr>
              <a:t>opensciencelabs.org</a:t>
            </a:r>
            <a:endParaRPr b="0" i="0" sz="1400" u="none" cap="none" strike="noStrike">
              <a:solidFill>
                <a:schemeClr val="dk1"/>
              </a:solidFill>
              <a:latin typeface="Calibri"/>
              <a:ea typeface="Calibri"/>
              <a:cs typeface="Calibri"/>
              <a:sym typeface="Calibri"/>
            </a:endParaRPr>
          </a:p>
        </p:txBody>
      </p:sp>
      <p:pic>
        <p:nvPicPr>
          <p:cNvPr descr="/mnt/data/osl-logo-color-horizontal.png" id="74" name="Google Shape;74;p4"/>
          <p:cNvPicPr preferRelativeResize="0"/>
          <p:nvPr/>
        </p:nvPicPr>
        <p:blipFill rotWithShape="1">
          <a:blip r:embed="rId3">
            <a:alphaModFix/>
          </a:blip>
          <a:srcRect b="0" l="0" r="0" t="0"/>
          <a:stretch/>
        </p:blipFill>
        <p:spPr>
          <a:xfrm>
            <a:off x="3768099" y="4178100"/>
            <a:ext cx="4655824" cy="10058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2026-03-01T13:13:46Z</dcterms:created>
  <dc:creator>PptxGenJS</dc:creator>
</cp:coreProperties>
</file>